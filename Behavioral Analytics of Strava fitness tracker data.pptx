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 snapToGrid="0">
      <p:cViewPr varScale="1">
        <p:scale>
          <a:sx n="84" d="100"/>
          <a:sy n="84" d="100"/>
        </p:scale>
        <p:origin x="6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4FC22-7911-4886-A6BD-03F1C9FCEF0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0F381-B0F2-4A40-A508-01DB37C93A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497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680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76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545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66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98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91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35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57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20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18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801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325154A-2D01-4A4C-8893-2D480117D84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37EB327-91CB-4087-B8A5-1B1BD50AE2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8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4B22-DB2A-DF67-C6F4-0F610FC81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296" y="1842515"/>
            <a:ext cx="11338560" cy="2203705"/>
          </a:xfrm>
        </p:spPr>
        <p:txBody>
          <a:bodyPr/>
          <a:lstStyle/>
          <a:p>
            <a:r>
              <a:rPr lang="en-IN" sz="8000" dirty="0" err="1"/>
              <a:t>Behavioral</a:t>
            </a:r>
            <a:r>
              <a:rPr lang="en-IN" sz="8000" dirty="0"/>
              <a:t> Analytics of fitness tracker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3B7E1-1F77-31CC-9E26-1FEF5D7346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the relationship between activity, sleep, sedentary behavior, and lifestyle patterns.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32E85-A06A-EC21-044B-D0CB93A6D52F}"/>
              </a:ext>
            </a:extLst>
          </p:cNvPr>
          <p:cNvSpPr txBox="1"/>
          <p:nvPr/>
        </p:nvSpPr>
        <p:spPr>
          <a:xfrm>
            <a:off x="160020" y="6344150"/>
            <a:ext cx="6281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Tools: Python · SQL · Power BI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8A19A-A099-EF91-BB24-0E6B36A27AC2}"/>
              </a:ext>
            </a:extLst>
          </p:cNvPr>
          <p:cNvSpPr txBox="1"/>
          <p:nvPr/>
        </p:nvSpPr>
        <p:spPr>
          <a:xfrm>
            <a:off x="9884664" y="6390316"/>
            <a:ext cx="2878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By:  Taruna Miglani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82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BBBD-ACB8-278E-4160-9EB586A3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Insights: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38FB32-8035-A83A-BD58-A3FD034964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6705" y="2238315"/>
            <a:ext cx="1092932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physical activity shows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linear relationship with calorie expenditure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validating steps as a proxy for energy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 behavior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time-clustered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peaks occurring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 afternoon and evening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lifestyle-driven exercise routines.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Sedentary behavior demonstrates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behavioral association with sleep duration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potential lifestyle imbalance.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behavior appears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weakly correlated with physical activity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implying sleep quality depends on broader lifestyle variables.</a:t>
            </a:r>
          </a:p>
        </p:txBody>
      </p:sp>
    </p:spTree>
    <p:extLst>
      <p:ext uri="{BB962C8B-B14F-4D97-AF65-F5344CB8AC3E}">
        <p14:creationId xmlns:p14="http://schemas.microsoft.com/office/powerpoint/2010/main" val="2081156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467C1-D591-2C3B-C1DC-0DF868985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423" y="223375"/>
            <a:ext cx="10058400" cy="1609344"/>
          </a:xfrm>
        </p:spPr>
        <p:txBody>
          <a:bodyPr/>
          <a:lstStyle/>
          <a:p>
            <a:r>
              <a:rPr lang="en-IN" dirty="0"/>
              <a:t>Dataset Overview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F772D5-CF32-E26E-A1C2-AD16F03E5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416024"/>
              </p:ext>
            </p:extLst>
          </p:nvPr>
        </p:nvGraphicFramePr>
        <p:xfrm>
          <a:off x="494585" y="1651519"/>
          <a:ext cx="9162600" cy="3816218"/>
        </p:xfrm>
        <a:graphic>
          <a:graphicData uri="http://schemas.openxmlformats.org/drawingml/2006/table">
            <a:tbl>
              <a:tblPr/>
              <a:tblGrid>
                <a:gridCol w="4581300">
                  <a:extLst>
                    <a:ext uri="{9D8B030D-6E8A-4147-A177-3AD203B41FA5}">
                      <a16:colId xmlns:a16="http://schemas.microsoft.com/office/drawing/2014/main" val="1327738363"/>
                    </a:ext>
                  </a:extLst>
                </a:gridCol>
                <a:gridCol w="4581300">
                  <a:extLst>
                    <a:ext uri="{9D8B030D-6E8A-4147-A177-3AD203B41FA5}">
                      <a16:colId xmlns:a16="http://schemas.microsoft.com/office/drawing/2014/main" val="1646772986"/>
                    </a:ext>
                  </a:extLst>
                </a:gridCol>
              </a:tblGrid>
              <a:tr h="545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983832"/>
                  </a:ext>
                </a:extLst>
              </a:tr>
              <a:tr h="545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Daily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Steps, calories, activity minutes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566790"/>
                  </a:ext>
                </a:extLst>
              </a:tr>
              <a:tr h="545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Hourly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Steps recorded per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876086"/>
                  </a:ext>
                </a:extLst>
              </a:tr>
              <a:tr h="545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Hourly Calories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Calories burned hourly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726497"/>
                  </a:ext>
                </a:extLst>
              </a:tr>
              <a:tr h="545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Hourly Intensity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Activity intensity levels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828144"/>
                  </a:ext>
                </a:extLst>
              </a:tr>
              <a:tr h="545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Sleep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Sleep duration and time in bed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085632"/>
                  </a:ext>
                </a:extLst>
              </a:tr>
              <a:tr h="545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Weight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Weight and BMI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140872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850024D2-F981-CA51-28B2-F74E562E41BC}"/>
              </a:ext>
            </a:extLst>
          </p:cNvPr>
          <p:cNvSpPr/>
          <p:nvPr/>
        </p:nvSpPr>
        <p:spPr>
          <a:xfrm>
            <a:off x="8730157" y="223375"/>
            <a:ext cx="3385643" cy="16093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785B74-FAD2-DC95-D42A-C91F57436380}"/>
              </a:ext>
            </a:extLst>
          </p:cNvPr>
          <p:cNvSpPr txBox="1"/>
          <p:nvPr/>
        </p:nvSpPr>
        <p:spPr>
          <a:xfrm>
            <a:off x="9017353" y="427882"/>
            <a:ext cx="2935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Scale </a:t>
            </a:r>
            <a:r>
              <a:rPr lang="en-IN" b="1" dirty="0" err="1"/>
              <a:t>Matrics</a:t>
            </a:r>
            <a:r>
              <a:rPr lang="en-IN" b="1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22,099 hourly </a:t>
            </a:r>
          </a:p>
          <a:p>
            <a:r>
              <a:rPr lang="en-IN" dirty="0"/>
              <a:t>     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35 daily user records </a:t>
            </a:r>
          </a:p>
        </p:txBody>
      </p:sp>
    </p:spTree>
    <p:extLst>
      <p:ext uri="{BB962C8B-B14F-4D97-AF65-F5344CB8AC3E}">
        <p14:creationId xmlns:p14="http://schemas.microsoft.com/office/powerpoint/2010/main" val="3074324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3253B-669E-ADAA-B861-5BDC067C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preparation &amp; </a:t>
            </a:r>
            <a:r>
              <a:rPr lang="en-IN" dirty="0" err="1"/>
              <a:t>eda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93C47-C786-70B9-D64F-16CD633CD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84" y="2176272"/>
            <a:ext cx="10058400" cy="4050792"/>
          </a:xfrm>
        </p:spPr>
        <p:txBody>
          <a:bodyPr>
            <a:normAutofit/>
          </a:bodyPr>
          <a:lstStyle/>
          <a:p>
            <a:r>
              <a:rPr lang="en-IN" sz="2800" b="1" dirty="0"/>
              <a:t>Python was used to </a:t>
            </a:r>
            <a:r>
              <a:rPr lang="en-IN" sz="2800" dirty="0"/>
              <a:t>: </a:t>
            </a:r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r>
              <a:rPr lang="en-IN" sz="2800" b="1" dirty="0"/>
              <a:t>Datasets were then integrated and exported to SQL for structured Querying before visualisation in Power BI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90D78-1AE6-37B8-453E-FD3E65569EA5}"/>
              </a:ext>
            </a:extLst>
          </p:cNvPr>
          <p:cNvSpPr txBox="1"/>
          <p:nvPr/>
        </p:nvSpPr>
        <p:spPr>
          <a:xfrm>
            <a:off x="3968496" y="2240280"/>
            <a:ext cx="8055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Remove duplicate records, Convert timestamp formats and Derived measures : Sleep efficiency , Hours asleep, Hours in bed.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5607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EFB6-9ABC-D830-E132-1A189A24B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8368"/>
            <a:ext cx="10058400" cy="1609344"/>
          </a:xfrm>
        </p:spPr>
        <p:txBody>
          <a:bodyPr/>
          <a:lstStyle/>
          <a:p>
            <a:r>
              <a:rPr lang="en-IN" dirty="0"/>
              <a:t>Activity vs Energy expenditure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2A3A8E-B720-0A92-3FA3-C07379E0ED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113" y="2093976"/>
            <a:ext cx="5620639" cy="2578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8DC72D-DE3B-5A69-0824-181A1ED1A0C4}"/>
              </a:ext>
            </a:extLst>
          </p:cNvPr>
          <p:cNvSpPr txBox="1"/>
          <p:nvPr/>
        </p:nvSpPr>
        <p:spPr>
          <a:xfrm>
            <a:off x="6571361" y="1997839"/>
            <a:ext cx="5562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Analytical Insight</a:t>
            </a:r>
          </a:p>
          <a:p>
            <a:pPr algn="ctr"/>
            <a:r>
              <a:rPr lang="en-US" dirty="0"/>
              <a:t>The scatter distribution shows a clear</a:t>
            </a:r>
            <a:r>
              <a:rPr lang="en-US" b="1" dirty="0"/>
              <a:t> </a:t>
            </a:r>
            <a:r>
              <a:rPr lang="en-US" dirty="0"/>
              <a:t>positive slope, confirming a strong linear relationship between daily step counts and calorie expenditure.</a:t>
            </a:r>
          </a:p>
          <a:p>
            <a:pPr algn="ctr"/>
            <a:r>
              <a:rPr lang="en-US" dirty="0"/>
              <a:t>However, variance increases at higher step counts, suggesting that users burning similar calories may exhibit different step patterns due to activity intensity differences.</a:t>
            </a:r>
            <a:endParaRPr lang="en-IN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CB1746-CE1E-5ECF-52CA-2905FB41674B}"/>
              </a:ext>
            </a:extLst>
          </p:cNvPr>
          <p:cNvSpPr/>
          <p:nvPr/>
        </p:nvSpPr>
        <p:spPr>
          <a:xfrm>
            <a:off x="2645537" y="5349472"/>
            <a:ext cx="6291072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586A2-D151-D1A8-5F71-1D3BA9334183}"/>
              </a:ext>
            </a:extLst>
          </p:cNvPr>
          <p:cNvSpPr txBox="1"/>
          <p:nvPr/>
        </p:nvSpPr>
        <p:spPr>
          <a:xfrm>
            <a:off x="2732405" y="5509599"/>
            <a:ext cx="6117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Implication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Calories are influenced not only by step volume but also by movement intensity and workout activity.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31C876-FEAA-076C-F839-41857DC778A0}"/>
              </a:ext>
            </a:extLst>
          </p:cNvPr>
          <p:cNvSpPr/>
          <p:nvPr/>
        </p:nvSpPr>
        <p:spPr>
          <a:xfrm>
            <a:off x="6364224" y="1837712"/>
            <a:ext cx="5769737" cy="31915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0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81B12-DD59-E7C8-7B04-0CD1EEC1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408" y="493776"/>
            <a:ext cx="10058400" cy="1609344"/>
          </a:xfrm>
        </p:spPr>
        <p:txBody>
          <a:bodyPr/>
          <a:lstStyle/>
          <a:p>
            <a:r>
              <a:rPr lang="en-IN" dirty="0"/>
              <a:t>Temporal Activity behaviour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4BEF19-1DB2-9239-4474-3E43A06C4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189987"/>
            <a:ext cx="5367401" cy="2478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AB9AAE-A210-50EC-0BA5-E0734F4C9DE9}"/>
              </a:ext>
            </a:extLst>
          </p:cNvPr>
          <p:cNvSpPr txBox="1"/>
          <p:nvPr/>
        </p:nvSpPr>
        <p:spPr>
          <a:xfrm>
            <a:off x="6730111" y="2221752"/>
            <a:ext cx="46085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Analytical Insight</a:t>
            </a:r>
          </a:p>
          <a:p>
            <a:pPr algn="ctr"/>
            <a:r>
              <a:rPr lang="en-IN" sz="1600" dirty="0"/>
              <a:t>The Activity curve shows two behavioural clusters :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dirty="0"/>
              <a:t>Moderate Activity during commuting hours 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dirty="0"/>
              <a:t>A significant peak in late afternoon and evening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6EA7A3-17BC-8A66-46D7-EBE513E047C3}"/>
              </a:ext>
            </a:extLst>
          </p:cNvPr>
          <p:cNvSpPr txBox="1"/>
          <p:nvPr/>
        </p:nvSpPr>
        <p:spPr>
          <a:xfrm>
            <a:off x="6976872" y="4270248"/>
            <a:ext cx="47365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Interpretation : </a:t>
            </a:r>
            <a:r>
              <a:rPr lang="en-IN" sz="1600" dirty="0"/>
              <a:t> This suggests user tend to engage in intentional exercise after work hours , rather than throughout the day. </a:t>
            </a:r>
            <a:endParaRPr lang="en-IN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6A0B15-637C-5D3E-23C0-3DD42B8CC7C0}"/>
              </a:ext>
            </a:extLst>
          </p:cNvPr>
          <p:cNvSpPr/>
          <p:nvPr/>
        </p:nvSpPr>
        <p:spPr>
          <a:xfrm>
            <a:off x="1069848" y="5404104"/>
            <a:ext cx="9875520" cy="11795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Implication : </a:t>
            </a:r>
            <a:r>
              <a:rPr lang="en-IN" dirty="0">
                <a:solidFill>
                  <a:schemeClr val="bg1"/>
                </a:solidFill>
              </a:rPr>
              <a:t>Fitness engagement tools should target evening engagement windows.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A46DFD-28BB-44A0-8705-9EEEE245F333}"/>
              </a:ext>
            </a:extLst>
          </p:cNvPr>
          <p:cNvSpPr/>
          <p:nvPr/>
        </p:nvSpPr>
        <p:spPr>
          <a:xfrm>
            <a:off x="6730111" y="1965960"/>
            <a:ext cx="4736592" cy="212140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3ABE5A-3496-4372-B6E4-3660C5360790}"/>
              </a:ext>
            </a:extLst>
          </p:cNvPr>
          <p:cNvSpPr/>
          <p:nvPr/>
        </p:nvSpPr>
        <p:spPr>
          <a:xfrm>
            <a:off x="6730111" y="4270248"/>
            <a:ext cx="4983353" cy="9875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684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00A7-D586-8323-4AF7-D59532482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Sedentary behaviour vs sleep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DF5F7-7343-800F-D86D-24AEC35C5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072" y="2111794"/>
            <a:ext cx="5474208" cy="2280217"/>
          </a:xfrm>
        </p:spPr>
        <p:txBody>
          <a:bodyPr/>
          <a:lstStyle/>
          <a:p>
            <a:r>
              <a:rPr lang="en-US" dirty="0"/>
              <a:t>While the relationship is not strictly linear, the chart shows clusters of lower sleep duration among users with high sedentary time.</a:t>
            </a:r>
          </a:p>
          <a:p>
            <a:r>
              <a:rPr lang="en-US" dirty="0"/>
              <a:t>Extended sedentary behavior may correlate with irregular daily routines or poor sleep patterns.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5AB1A-42FE-9653-4EC0-59262A27D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57" y="2111794"/>
            <a:ext cx="4742688" cy="228021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A85AF8-3D3D-B7FE-ED1F-251B220CBE3D}"/>
              </a:ext>
            </a:extLst>
          </p:cNvPr>
          <p:cNvSpPr/>
          <p:nvPr/>
        </p:nvSpPr>
        <p:spPr>
          <a:xfrm>
            <a:off x="1408176" y="5129784"/>
            <a:ext cx="8924544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Implication : </a:t>
            </a:r>
            <a:r>
              <a:rPr lang="en-IN" dirty="0">
                <a:solidFill>
                  <a:schemeClr val="bg1"/>
                </a:solidFill>
              </a:rPr>
              <a:t>Reducing sedentary time could improve lifestyle balance.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568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EA97-D0DC-3CC7-7FB3-C7E2D43E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Activity vs sleep duration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1D87F-D255-2B1E-DBD7-8B8119F31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2360" y="1810512"/>
            <a:ext cx="4489704" cy="3099816"/>
          </a:xfrm>
        </p:spPr>
        <p:txBody>
          <a:bodyPr/>
          <a:lstStyle/>
          <a:p>
            <a:r>
              <a:rPr lang="en-US" dirty="0"/>
              <a:t>The scatter distribution shows weak correlation between steps and sleep duration, indicating that increased activity does not necessarily translate to longer sleep.</a:t>
            </a:r>
          </a:p>
          <a:p>
            <a:r>
              <a:rPr lang="en-US" dirty="0"/>
              <a:t>Sleep behavior is influenced by multiple variables such as lifestyle habits, stress, and sedentary behavior.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6BB65C-72ED-81EB-7855-816A27BAC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810512"/>
            <a:ext cx="6499165" cy="267004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F84104-63DA-27FE-3D9A-5C609CC88BC6}"/>
              </a:ext>
            </a:extLst>
          </p:cNvPr>
          <p:cNvSpPr/>
          <p:nvPr/>
        </p:nvSpPr>
        <p:spPr>
          <a:xfrm>
            <a:off x="850392" y="4910328"/>
            <a:ext cx="9802368" cy="1463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Implication : </a:t>
            </a:r>
            <a:r>
              <a:rPr lang="en-IN" sz="1600" dirty="0"/>
              <a:t> </a:t>
            </a:r>
            <a:r>
              <a:rPr lang="en-US" dirty="0"/>
              <a:t>Physical activity alone is insufficient to predict sleep quality.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602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3CD50-A2B2-FEF0-253F-B62A7EC44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701" y="-65458"/>
            <a:ext cx="10058400" cy="1609344"/>
          </a:xfrm>
        </p:spPr>
        <p:txBody>
          <a:bodyPr/>
          <a:lstStyle/>
          <a:p>
            <a:r>
              <a:rPr lang="en-IN" dirty="0"/>
              <a:t>Correlation matrix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8CBBA-8352-4082-16BA-40AC0EB28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7848" y="1316736"/>
            <a:ext cx="3200400" cy="4855464"/>
          </a:xfrm>
        </p:spPr>
        <p:txBody>
          <a:bodyPr/>
          <a:lstStyle/>
          <a:p>
            <a:r>
              <a:rPr lang="en-IN" dirty="0"/>
              <a:t>Strong correlation between steps and calories.</a:t>
            </a:r>
          </a:p>
          <a:p>
            <a:r>
              <a:rPr lang="en-IN" dirty="0"/>
              <a:t>Moderate correlation between activity intensity and calories </a:t>
            </a:r>
          </a:p>
          <a:p>
            <a:r>
              <a:rPr lang="en-IN" dirty="0"/>
              <a:t>Weak correlations between sleep metrics and activity metrics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F09AF-548D-3783-5B69-C2A8F47F0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01" y="1123262"/>
            <a:ext cx="6363163" cy="440116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C0C06B-B1A4-4966-39EC-3371EB2960E1}"/>
              </a:ext>
            </a:extLst>
          </p:cNvPr>
          <p:cNvSpPr/>
          <p:nvPr/>
        </p:nvSpPr>
        <p:spPr>
          <a:xfrm>
            <a:off x="960120" y="5678424"/>
            <a:ext cx="10058400" cy="9509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Implications :  </a:t>
            </a:r>
            <a:r>
              <a:rPr lang="en-US" dirty="0"/>
              <a:t>Lifestyle behavior is multidimensional, where sleep patterns cannot be explained by activity metrics alone.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89878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F40C-5126-5904-50A1-FC420212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-118872"/>
            <a:ext cx="10058400" cy="1609344"/>
          </a:xfrm>
        </p:spPr>
        <p:txBody>
          <a:bodyPr/>
          <a:lstStyle/>
          <a:p>
            <a:r>
              <a:rPr lang="en-IN" dirty="0"/>
              <a:t>Sleep efficiency distribution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CCF47-DC64-88B6-152B-7FA2DB122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4472" y="1349703"/>
            <a:ext cx="4297680" cy="4443984"/>
          </a:xfrm>
        </p:spPr>
        <p:txBody>
          <a:bodyPr/>
          <a:lstStyle/>
          <a:p>
            <a:r>
              <a:rPr lang="en-US" dirty="0"/>
              <a:t>Most users cluster around high sleep efficiency levels, but the distribution tail reveals a smaller subset with significantly lower sleep efficiency.</a:t>
            </a:r>
          </a:p>
          <a:p>
            <a:r>
              <a:rPr lang="en-US" dirty="0"/>
              <a:t>While average sleep patterns appear healthy, a minority of users may experience poor sleep quality, which could indicate behavioral or lifestyle issues.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20732-6115-585D-A259-AEB161691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60" y="1349703"/>
            <a:ext cx="6032010" cy="35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9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EDEB-A6C1-4D08-87AE-52FEF9C3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9536"/>
            <a:ext cx="10058400" cy="1609344"/>
          </a:xfrm>
        </p:spPr>
        <p:txBody>
          <a:bodyPr/>
          <a:lstStyle/>
          <a:p>
            <a:r>
              <a:rPr lang="en-IN" dirty="0"/>
              <a:t>Weight vs activity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20731-326D-E221-3D30-33C99DFBA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6640" y="1901952"/>
            <a:ext cx="4224528" cy="4014216"/>
          </a:xfrm>
        </p:spPr>
        <p:txBody>
          <a:bodyPr/>
          <a:lstStyle/>
          <a:p>
            <a:r>
              <a:rPr lang="en-US" dirty="0"/>
              <a:t>The scatter plot demonstrates that users with nearly identical body weight can exhibit drastically different activity levels, highlighting that behavioral patterns — rather than physical attributes — are the primary drivers of daily movement.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CA5D61-9F07-631B-D149-D58CE12C3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901952"/>
            <a:ext cx="5534797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77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7F6FA-36D1-AF84-65B7-6AAFD4F68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69" y="123603"/>
            <a:ext cx="11648061" cy="661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96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389859-D22D-A7AD-E7C1-D3CD6E0BC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85" y="148271"/>
            <a:ext cx="11406991" cy="656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5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6E2-3F31-E2EB-DCB6-1634153F4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476" y="5001768"/>
            <a:ext cx="3020692" cy="1856232"/>
          </a:xfrm>
        </p:spPr>
        <p:txBody>
          <a:bodyPr>
            <a:normAutofit/>
          </a:bodyPr>
          <a:lstStyle/>
          <a:p>
            <a:r>
              <a:rPr lang="en-IN" sz="6000" dirty="0"/>
              <a:t>Thankyou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6A45D8-F7D8-6A4F-2111-5F80E28722F1}"/>
              </a:ext>
            </a:extLst>
          </p:cNvPr>
          <p:cNvSpPr/>
          <p:nvPr/>
        </p:nvSpPr>
        <p:spPr>
          <a:xfrm>
            <a:off x="1627632" y="941832"/>
            <a:ext cx="8202168" cy="4133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Key Takeaways: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Physical activity strongly predicts calorie expenditure.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activity peaks during evening hours.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Sedentary behavior may negatively affect sleep duration.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Sleep behavior depends on multiple lifestyle variables.</a:t>
            </a:r>
          </a:p>
        </p:txBody>
      </p:sp>
    </p:spTree>
    <p:extLst>
      <p:ext uri="{BB962C8B-B14F-4D97-AF65-F5344CB8AC3E}">
        <p14:creationId xmlns:p14="http://schemas.microsoft.com/office/powerpoint/2010/main" val="3052466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182</TotalTime>
  <Words>616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Rockwell</vt:lpstr>
      <vt:lpstr>Rockwell Condensed</vt:lpstr>
      <vt:lpstr>Wingdings</vt:lpstr>
      <vt:lpstr>Wood Type</vt:lpstr>
      <vt:lpstr>Behavioral Analytics of fitness tracker data</vt:lpstr>
      <vt:lpstr>Executive Insights:</vt:lpstr>
      <vt:lpstr>Dataset Overview </vt:lpstr>
      <vt:lpstr>Data preparation &amp; eda </vt:lpstr>
      <vt:lpstr>Activity vs Energy expenditure</vt:lpstr>
      <vt:lpstr>Temporal Activity behaviour </vt:lpstr>
      <vt:lpstr>Sedentary behaviour vs sleep </vt:lpstr>
      <vt:lpstr>Activity vs sleep duration </vt:lpstr>
      <vt:lpstr>Correlation matrix </vt:lpstr>
      <vt:lpstr>Sleep efficiency distribution </vt:lpstr>
      <vt:lpstr>Weight vs activity </vt:lpstr>
      <vt:lpstr>PowerPoint Presentation</vt:lpstr>
      <vt:lpstr>PowerPoint Presentation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tarunamiglani98@gmail.com</dc:creator>
  <cp:lastModifiedBy>tarunamiglani98@gmail.com</cp:lastModifiedBy>
  <cp:revision>12</cp:revision>
  <dcterms:created xsi:type="dcterms:W3CDTF">2026-03-12T18:39:02Z</dcterms:created>
  <dcterms:modified xsi:type="dcterms:W3CDTF">2026-03-13T09:18:18Z</dcterms:modified>
</cp:coreProperties>
</file>